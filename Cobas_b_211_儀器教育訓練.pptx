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9189" y="2622202"/>
            <a:ext cx="6473621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369A1"/>
                </a:solidFill>
                <a:latin typeface="Outfit"/>
              </a:rPr>
              <a:t>Cobas b 211 教育訓練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3323" y="3641377"/>
            <a:ext cx="6165353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64748B"/>
                </a:solidFill>
                <a:latin typeface="Noto Sans TC"/>
              </a:rPr>
              <a:t>異常訊號故障排除、QC New Lot 設定與連線異常處置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455515"/>
            <a:ext cx="3555950" cy="271834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455515"/>
            <a:ext cx="3555950" cy="27183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650" y="2455515"/>
            <a:ext cx="3555950" cy="2718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293715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1. 異常訊號故障排除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884265"/>
            <a:ext cx="29654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針對 SD Wash error、Bypass 或 FMS error 之管路潤濕與異物排除處理流程。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3225" y="3293715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2. QC New Lot 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3225" y="3884265"/>
            <a:ext cx="29654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品管批號更新、刪除舊批號及掃描對應 Barcode (Material、BG、COOX) 步驟。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4925" y="3293715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3. 連線異常處置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4925" y="3884265"/>
            <a:ext cx="2965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網路實體線路、IP 橋接器及 LIS 端通訊狀態檢查重點。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779365"/>
            <a:ext cx="266848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25" y="2779365"/>
            <a:ext cx="266848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925" y="2779365"/>
            <a:ext cx="266848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Outfit"/>
              </a:rPr>
              <a:t>課程大綱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575619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35580" y="2804219"/>
            <a:ext cx="672084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284C7"/>
                </a:solidFill>
                <a:latin typeface="Outfit"/>
              </a:rPr>
              <a:t>單元一：異常訊號故障排除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9926" y="3928169"/>
            <a:ext cx="4312146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Noto Sans TC"/>
              </a:rPr>
              <a:t>SD Wash error, Bypass or FMS error 處理流程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09625" y="2005012"/>
            <a:ext cx="5095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Noto Sans TC"/>
              </a:rPr>
              <a:t>步驟 1：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點選主畫面左下角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462212"/>
            <a:ext cx="5095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Noto Sans TC"/>
              </a:rPr>
              <a:t>步驟 2：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點選右側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Utilities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919412"/>
            <a:ext cx="5095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Noto Sans TC"/>
              </a:rPr>
              <a:t>步驟 3：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點選左側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Fluid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376612"/>
            <a:ext cx="5095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Noto Sans TC"/>
              </a:rPr>
              <a:t>步驟 4：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點選右側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Wetting routines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028825"/>
            <a:ext cx="148232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486025"/>
            <a:ext cx="148232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943225"/>
            <a:ext cx="148232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400425"/>
            <a:ext cx="14823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Outfit"/>
              </a:rPr>
              <a:t>故障排除步驟 (1/3) - 進入選單</a:t>
            </a:r>
          </a:p>
        </p:txBody>
      </p:sp>
      <p:pic>
        <p:nvPicPr>
          <p:cNvPr id="14" name="內容版面配置區 3">
            <a:extLst>
              <a:ext uri="{FF2B5EF4-FFF2-40B4-BE49-F238E27FC236}">
                <a16:creationId xmlns:a16="http://schemas.microsoft.com/office/drawing/2014/main" id="{1DAD40D9-E013-4CB8-8024-85E03AA943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1" t="7157" r="4485" b="2843"/>
          <a:stretch/>
        </p:blipFill>
        <p:spPr>
          <a:xfrm>
            <a:off x="8113059" y="1170580"/>
            <a:ext cx="3039035" cy="2376349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C275069F-BD51-4E2D-9D22-966DA3012831}"/>
              </a:ext>
            </a:extLst>
          </p:cNvPr>
          <p:cNvSpPr txBox="1"/>
          <p:nvPr/>
        </p:nvSpPr>
        <p:spPr>
          <a:xfrm>
            <a:off x="9154270" y="2157412"/>
            <a:ext cx="62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r>
              <a:rPr lang="zh-TW" altLang="en-US" dirty="0"/>
              <a:t>、</a:t>
            </a:r>
          </a:p>
        </p:txBody>
      </p:sp>
      <p:pic>
        <p:nvPicPr>
          <p:cNvPr id="17" name="內容版面配置區 3">
            <a:extLst>
              <a:ext uri="{FF2B5EF4-FFF2-40B4-BE49-F238E27FC236}">
                <a16:creationId xmlns:a16="http://schemas.microsoft.com/office/drawing/2014/main" id="{46BD19D6-FE75-4A14-BAAD-501B218E52C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" t="5416" r="8905" b="6666"/>
          <a:stretch/>
        </p:blipFill>
        <p:spPr>
          <a:xfrm>
            <a:off x="4777201" y="1170580"/>
            <a:ext cx="3113847" cy="2359144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1B1BD4A1-391D-49EB-8070-F57A76DB8BDB}"/>
              </a:ext>
            </a:extLst>
          </p:cNvPr>
          <p:cNvSpPr/>
          <p:nvPr/>
        </p:nvSpPr>
        <p:spPr>
          <a:xfrm>
            <a:off x="4885765" y="3073548"/>
            <a:ext cx="690282" cy="150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BE21C0B-5E78-4263-8DE9-5C99B86862A6}"/>
              </a:ext>
            </a:extLst>
          </p:cNvPr>
          <p:cNvSpPr txBox="1"/>
          <p:nvPr/>
        </p:nvSpPr>
        <p:spPr>
          <a:xfrm>
            <a:off x="5115605" y="1937398"/>
            <a:ext cx="62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r>
              <a:rPr lang="zh-TW" altLang="en-US" dirty="0"/>
              <a:t>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C8A3CD-0939-446B-829E-1954AC7C0BE2}"/>
              </a:ext>
            </a:extLst>
          </p:cNvPr>
          <p:cNvSpPr/>
          <p:nvPr/>
        </p:nvSpPr>
        <p:spPr>
          <a:xfrm>
            <a:off x="10098607" y="2097236"/>
            <a:ext cx="690282" cy="150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內容版面配置區 3">
            <a:extLst>
              <a:ext uri="{FF2B5EF4-FFF2-40B4-BE49-F238E27FC236}">
                <a16:creationId xmlns:a16="http://schemas.microsoft.com/office/drawing/2014/main" id="{2C88C788-7A57-476D-BF28-E1DBB2ED49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095" y="3738279"/>
            <a:ext cx="3103676" cy="2327757"/>
          </a:xfrm>
          <a:prstGeom prst="rect">
            <a:avLst/>
          </a:prstGeom>
        </p:spPr>
      </p:pic>
      <p:pic>
        <p:nvPicPr>
          <p:cNvPr id="21" name="內容版面配置區 3">
            <a:extLst>
              <a:ext uri="{FF2B5EF4-FFF2-40B4-BE49-F238E27FC236}">
                <a16:creationId xmlns:a16="http://schemas.microsoft.com/office/drawing/2014/main" id="{81FAA167-2A57-41A1-AE2B-277E7103B2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" t="3415" r="2848" b="7405"/>
          <a:stretch/>
        </p:blipFill>
        <p:spPr>
          <a:xfrm>
            <a:off x="8113059" y="3738278"/>
            <a:ext cx="3103677" cy="2327758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A500975-DAAB-47B2-8D80-95EC8354DDEC}"/>
              </a:ext>
            </a:extLst>
          </p:cNvPr>
          <p:cNvSpPr/>
          <p:nvPr/>
        </p:nvSpPr>
        <p:spPr>
          <a:xfrm>
            <a:off x="5084229" y="4917844"/>
            <a:ext cx="658906" cy="2368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D6266B-F80F-4A0D-9DD2-7723642855C4}"/>
              </a:ext>
            </a:extLst>
          </p:cNvPr>
          <p:cNvSpPr/>
          <p:nvPr/>
        </p:nvSpPr>
        <p:spPr>
          <a:xfrm>
            <a:off x="9996888" y="4951813"/>
            <a:ext cx="658906" cy="2368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D8BEF26-4AC0-4FE6-9EB8-3DB48DAA7E70}"/>
              </a:ext>
            </a:extLst>
          </p:cNvPr>
          <p:cNvSpPr txBox="1"/>
          <p:nvPr/>
        </p:nvSpPr>
        <p:spPr>
          <a:xfrm>
            <a:off x="5821337" y="4594247"/>
            <a:ext cx="62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r>
              <a:rPr lang="zh-TW" altLang="en-US" dirty="0"/>
              <a:t>、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160B34B-368A-4E15-8488-6B22A893C377}"/>
              </a:ext>
            </a:extLst>
          </p:cNvPr>
          <p:cNvSpPr txBox="1"/>
          <p:nvPr/>
        </p:nvSpPr>
        <p:spPr>
          <a:xfrm>
            <a:off x="9261214" y="4746647"/>
            <a:ext cx="62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r>
              <a:rPr lang="zh-TW" altLang="en-US" dirty="0"/>
              <a:t>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9625" y="2462212"/>
            <a:ext cx="5095875" cy="276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475569"/>
                </a:solidFill>
                <a:latin typeface="Noto Sans TC"/>
              </a:rPr>
              <a:t>步驟</a:t>
            </a:r>
            <a:r>
              <a:rPr sz="1500" b="1" i="0" u="none" dirty="0">
                <a:solidFill>
                  <a:srgbClr val="475569"/>
                </a:solidFill>
                <a:latin typeface="Noto Sans TC"/>
              </a:rPr>
              <a:t> </a:t>
            </a:r>
            <a:r>
              <a:rPr lang="en-US" altLang="zh-TW" sz="1500" b="1" i="0" u="none" dirty="0">
                <a:solidFill>
                  <a:srgbClr val="475569"/>
                </a:solidFill>
                <a:latin typeface="Noto Sans TC"/>
              </a:rPr>
              <a:t>5</a:t>
            </a:r>
            <a:r>
              <a:rPr sz="1500" b="1" i="0" u="none" dirty="0">
                <a:solidFill>
                  <a:srgbClr val="475569"/>
                </a:solidFill>
                <a:latin typeface="Noto Sans TC"/>
              </a:rPr>
              <a:t>：</a:t>
            </a:r>
            <a:r>
              <a:rPr sz="1500" b="0" i="0" u="none" dirty="0">
                <a:solidFill>
                  <a:srgbClr val="475569"/>
                </a:solidFill>
                <a:latin typeface="Noto Sans TC"/>
              </a:rPr>
              <a:t>選取 </a:t>
            </a:r>
            <a:r>
              <a:rPr sz="1500" b="1" i="0" u="none" dirty="0" err="1">
                <a:solidFill>
                  <a:srgbClr val="475569"/>
                </a:solidFill>
                <a:latin typeface="Noto Sans TC"/>
              </a:rPr>
              <a:t>BG</a:t>
            </a:r>
            <a:r>
              <a:rPr sz="1500" b="0" i="0" u="none" dirty="0" err="1">
                <a:solidFill>
                  <a:srgbClr val="475569"/>
                </a:solidFill>
                <a:latin typeface="Noto Sans TC"/>
              </a:rPr>
              <a:t>，按下方</a:t>
            </a:r>
            <a:r>
              <a:rPr sz="1500" b="0" i="0" u="none" dirty="0">
                <a:solidFill>
                  <a:srgbClr val="475569"/>
                </a:solidFill>
                <a:latin typeface="Noto Sans TC"/>
              </a:rPr>
              <a:t> </a:t>
            </a:r>
            <a:r>
              <a:rPr sz="1500" b="1" i="0" u="none" dirty="0">
                <a:solidFill>
                  <a:srgbClr val="475569"/>
                </a:solidFill>
                <a:latin typeface="Noto Sans TC"/>
              </a:rPr>
              <a:t>Do</a:t>
            </a:r>
            <a:r>
              <a:rPr sz="1500" b="0" i="0" u="none" dirty="0">
                <a:solidFill>
                  <a:srgbClr val="475569"/>
                </a:solidFill>
                <a:latin typeface="Noto Sans TC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Noto Sans TC"/>
              </a:rPr>
              <a:t>按鈕執行</a:t>
            </a:r>
            <a:r>
              <a:rPr sz="1500" b="0" i="0" u="none" dirty="0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919412"/>
            <a:ext cx="50958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Noto Sans TC"/>
              </a:rPr>
              <a:t>畫面提示：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當畫面停在 Wet sample path 時進行下一步驟。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486025"/>
            <a:ext cx="148232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943225"/>
            <a:ext cx="14823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Outfit"/>
              </a:rPr>
              <a:t>故障排除步驟 (2/3) - 手動管路潤濕</a:t>
            </a:r>
          </a:p>
        </p:txBody>
      </p:sp>
      <p:pic>
        <p:nvPicPr>
          <p:cNvPr id="11" name="內容版面配置區 3">
            <a:extLst>
              <a:ext uri="{FF2B5EF4-FFF2-40B4-BE49-F238E27FC236}">
                <a16:creationId xmlns:a16="http://schemas.microsoft.com/office/drawing/2014/main" id="{204C8504-8339-41AD-9ACD-F94EE4EA0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1506071"/>
            <a:ext cx="5091952" cy="381896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D8C66B-0C03-42CC-874C-D8EBBFFB3DBE}"/>
              </a:ext>
            </a:extLst>
          </p:cNvPr>
          <p:cNvSpPr/>
          <p:nvPr/>
        </p:nvSpPr>
        <p:spPr>
          <a:xfrm>
            <a:off x="6895099" y="4073272"/>
            <a:ext cx="658906" cy="2368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318444"/>
            <a:ext cx="3555950" cy="29926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318444"/>
            <a:ext cx="3555950" cy="29926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650" y="2318444"/>
            <a:ext cx="3555950" cy="2992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156644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空氣抽拉測試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747194"/>
            <a:ext cx="2965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先用空針打空氣，再向後抽拉（檢查有無異物殘留），反覆執行 2-3 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3225" y="3156644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標準清洗與校正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3225" y="3747194"/>
            <a:ext cx="2965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點選 </a:t>
            </a:r>
            <a:r>
              <a:rPr sz="1350" b="1" i="0" u="none">
                <a:solidFill>
                  <a:srgbClr val="475569"/>
                </a:solidFill>
                <a:latin typeface="Noto Sans TC"/>
              </a:rPr>
              <a:t>Quick access</a:t>
            </a:r>
            <a:r>
              <a:rPr sz="1350" b="0" i="0" u="none">
                <a:solidFill>
                  <a:srgbClr val="475569"/>
                </a:solidFill>
                <a:latin typeface="Noto Sans TC"/>
              </a:rPr>
              <a:t> ➔ </a:t>
            </a:r>
            <a:r>
              <a:rPr sz="1350" b="1" i="0" u="none">
                <a:solidFill>
                  <a:srgbClr val="475569"/>
                </a:solidFill>
                <a:latin typeface="Noto Sans TC"/>
              </a:rPr>
              <a:t>Wash</a:t>
            </a:r>
            <a:r>
              <a:rPr sz="1350" b="0" i="0" u="none">
                <a:solidFill>
                  <a:srgbClr val="475569"/>
                </a:solidFill>
                <a:latin typeface="Noto Sans TC"/>
              </a:rPr>
              <a:t> ➔ </a:t>
            </a:r>
            <a:r>
              <a:rPr sz="1350" b="1" i="0" u="none">
                <a:solidFill>
                  <a:srgbClr val="475569"/>
                </a:solidFill>
                <a:latin typeface="Noto Sans TC"/>
              </a:rPr>
              <a:t>Cali</a:t>
            </a:r>
            <a:r>
              <a:rPr sz="1350" b="0" i="0" u="none">
                <a:solidFill>
                  <a:srgbClr val="475569"/>
                </a:solidFill>
                <a:latin typeface="Noto Sans TC"/>
              </a:rPr>
              <a:t>，完成後觀察並帶入 QC。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4925" y="3156644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進階打水處理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4925" y="3747194"/>
            <a:ext cx="29654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若無效則改為「打水」抽拉 ➔ Wash ➔ Cali ➔ 觀察 QC。</a:t>
            </a:r>
            <a:r>
              <a:t>
</a:t>
            </a:r>
            <a:r>
              <a:rPr sz="1350" b="0" i="1" u="none">
                <a:solidFill>
                  <a:srgbClr val="475569"/>
                </a:solidFill>
                <a:latin typeface="Noto Sans TC"/>
              </a:rPr>
              <a:t>(註：打水時請輕輕打，切勿一次強力灌入)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642294"/>
            <a:ext cx="266848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25" y="2642294"/>
            <a:ext cx="266848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925" y="2642294"/>
            <a:ext cx="266848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Outfit"/>
              </a:rPr>
              <a:t>故障排除步驟 (3/3) - 管路抽拉與校正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575619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1054" y="2804219"/>
            <a:ext cx="668974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284C7"/>
                </a:solidFill>
                <a:latin typeface="Outfit"/>
              </a:rPr>
              <a:t>單元二：QC New Lot 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4375" y="3928169"/>
            <a:ext cx="3143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Noto Sans TC"/>
              </a:rPr>
              <a:t>品管批號更新與條碼掃描設定流程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3125" y="2671762"/>
            <a:ext cx="8239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Noto Sans TC"/>
              </a:rPr>
              <a:t>點選主畫面進入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QC material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 設定頁面。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3125" y="3128962"/>
            <a:ext cx="8239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Noto Sans TC"/>
              </a:rPr>
              <a:t>選取欲更換之 QC Level ➔ 點選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Delete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 刪除舊批號。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125" y="3586162"/>
            <a:ext cx="8239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Noto Sans TC"/>
              </a:rPr>
              <a:t>點選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Set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，從試劑盒仿單中刷入第一個條碼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(Material Code)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3125" y="4043362"/>
            <a:ext cx="8239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Noto Sans TC"/>
              </a:rPr>
              <a:t>點選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Range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，刷入第二個條碼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(BG Code)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3125" y="4500562"/>
            <a:ext cx="8239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Noto Sans TC"/>
              </a:rPr>
              <a:t>最後刷入第四個條碼 </a:t>
            </a:r>
            <a:r>
              <a:rPr sz="1500" b="1" i="0" u="none">
                <a:solidFill>
                  <a:srgbClr val="475569"/>
                </a:solidFill>
                <a:latin typeface="Noto Sans TC"/>
              </a:rPr>
              <a:t>(COOX Code)</a:t>
            </a:r>
            <a:r>
              <a:rPr sz="1500" b="0" i="0" u="none">
                <a:solidFill>
                  <a:srgbClr val="475569"/>
                </a:solidFill>
                <a:latin typeface="Noto Sans TC"/>
              </a:rPr>
              <a:t> 即完成全新批號設定！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695575"/>
            <a:ext cx="952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152775"/>
            <a:ext cx="952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609975"/>
            <a:ext cx="952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4067175"/>
            <a:ext cx="952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4524375"/>
            <a:ext cx="952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Outfit"/>
              </a:rPr>
              <a:t>QC New Lot 建立步驟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575619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95650" y="2804219"/>
            <a:ext cx="56007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284C7"/>
                </a:solidFill>
                <a:latin typeface="Outfit"/>
              </a:rPr>
              <a:t>單元三：連線異常處置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33925" y="3928169"/>
            <a:ext cx="27241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Noto Sans TC"/>
              </a:rPr>
              <a:t>網路實體與通訊異常排查重點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545109"/>
            <a:ext cx="3555950" cy="253930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545109"/>
            <a:ext cx="3555950" cy="2539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650" y="2545109"/>
            <a:ext cx="3555950" cy="2539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478559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1. IP 橋接器檢查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069109"/>
            <a:ext cx="2965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Noto Sans TC"/>
              </a:rPr>
              <a:t>檢查</a:t>
            </a:r>
            <a:r>
              <a:rPr sz="1350" b="0" i="0" u="none" dirty="0">
                <a:solidFill>
                  <a:srgbClr val="475569"/>
                </a:solidFill>
                <a:latin typeface="Noto Sans TC"/>
              </a:rPr>
              <a:t> IP </a:t>
            </a:r>
            <a:r>
              <a:rPr sz="1350" b="0" i="0" u="none" dirty="0" err="1">
                <a:solidFill>
                  <a:srgbClr val="475569"/>
                </a:solidFill>
                <a:latin typeface="Noto Sans TC"/>
              </a:rPr>
              <a:t>橋接器電源線及網線是否脫落或接觸不良</a:t>
            </a:r>
            <a:r>
              <a:rPr sz="1350" b="0" i="0" u="none" dirty="0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3225" y="3478559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2. Link 燈號確認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3225" y="4069109"/>
            <a:ext cx="2965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檢查網路孔 Link 指示燈是否閃爍，閃爍表示網路成功接上。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4925" y="3478559"/>
            <a:ext cx="31136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3. LIS 端連線確認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4925" y="4069109"/>
            <a:ext cx="29654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Noto Sans TC"/>
              </a:rPr>
              <a:t>確認實驗室資訊系統 (LIS) 端伺服器與通訊狀態是否正常。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45159"/>
            <a:ext cx="25717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25" y="2945159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925" y="2945159"/>
            <a:ext cx="390525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476250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Outfit"/>
              </a:rPr>
              <a:t>連線異常處置重點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9B3D0DDE-3A1D-427A-BB4C-0B1ED3735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70" y="4763924"/>
            <a:ext cx="2419910" cy="16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FA26E5C9-273E-4376-A0C8-1DD5F77C2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942103" y="4763925"/>
            <a:ext cx="2307641" cy="1617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038F55F-48F4-4234-A7CA-1719B4367C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6617" y="4763925"/>
            <a:ext cx="3101978" cy="1617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257</Words>
  <Application>Microsoft Office PowerPoint</Application>
  <PresentationFormat>寬螢幕</PresentationFormat>
  <Paragraphs>47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Noto Sans TC</vt:lpstr>
      <vt:lpstr>Outfit</vt:lpstr>
      <vt:lpstr>新細明體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hmisa</cp:lastModifiedBy>
  <cp:revision>2</cp:revision>
  <dcterms:created xsi:type="dcterms:W3CDTF">2013-01-27T09:14:16Z</dcterms:created>
  <dcterms:modified xsi:type="dcterms:W3CDTF">2026-08-18T08:11:35Z</dcterms:modified>
  <cp:category/>
</cp:coreProperties>
</file>