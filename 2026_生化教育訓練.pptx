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82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08" y="-5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png"/><Relationship Id="rId7" Type="http://schemas.openxmlformats.org/officeDocument/2006/relationships/image" Target="../media/image2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983134"/>
            <a:ext cx="116014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3F0DF"/>
                </a:solidFill>
                <a:latin typeface="Poppins"/>
              </a:rPr>
              <a:t>2026 生化教育訓練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334791"/>
            <a:ext cx="11049000" cy="391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 dirty="0" err="1">
                <a:solidFill>
                  <a:schemeClr val="bg1"/>
                </a:solidFill>
                <a:latin typeface="Noto Sans TC"/>
              </a:rPr>
              <a:t>檢驗流程一致性標準</a:t>
            </a:r>
            <a:endParaRPr sz="2100" b="0" i="0" u="none" dirty="0">
              <a:solidFill>
                <a:schemeClr val="bg1"/>
              </a:solidFill>
              <a:latin typeface="Noto Sans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4429125"/>
            <a:ext cx="11049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F3F0DF"/>
                </a:solidFill>
                <a:latin typeface="Noto Sans TC"/>
              </a:rPr>
              <a:t>羅東聖母醫院 檢驗科 | 生化組製作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47862"/>
            <a:ext cx="5334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5088"/>
                </a:solidFill>
                <a:latin typeface="Poppins"/>
              </a:rPr>
              <a:t>急生化退件檢體標準流程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250" y="2858541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跨組確認：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退件前須與血液組確認檢體是否需重抽，確保一併處理。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559522"/>
            <a:ext cx="5048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系統備註：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於 Comment 3 詳實記載原因：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572892"/>
            <a:ext cx="5048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行政交接：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留下條碼號碼並確實執行班次交班。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58541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21422"/>
            <a:ext cx="133498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72892"/>
            <a:ext cx="133498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3795712"/>
            <a:ext cx="4762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A010：溶血重採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84302"/>
            <a:ext cx="4762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CLOT 重採 / 檢體量不符重採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795712"/>
            <a:ext cx="133498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184302"/>
            <a:ext cx="133498" cy="200025"/>
          </a:xfrm>
          <a:prstGeom prst="rect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xmlns="" id="{40047DC3-DF8B-44CA-AFD8-038EB810F078}"/>
              </a:ext>
            </a:extLst>
          </p:cNvPr>
          <p:cNvGrpSpPr/>
          <p:nvPr/>
        </p:nvGrpSpPr>
        <p:grpSpPr>
          <a:xfrm>
            <a:off x="6296025" y="2600804"/>
            <a:ext cx="5458001" cy="2241286"/>
            <a:chOff x="2742308" y="2723172"/>
            <a:chExt cx="6256090" cy="2140043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xmlns="" id="{5A868C80-9E57-4C28-A859-449B17FE93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04" t="32895" r="63366" b="57708"/>
            <a:stretch/>
          </p:blipFill>
          <p:spPr bwMode="auto">
            <a:xfrm>
              <a:off x="2742308" y="2723172"/>
              <a:ext cx="6256090" cy="21400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00A3EC48-9DE6-459C-BBB0-8F8E81EFCDA1}"/>
                </a:ext>
              </a:extLst>
            </p:cNvPr>
            <p:cNvSpPr/>
            <p:nvPr/>
          </p:nvSpPr>
          <p:spPr>
            <a:xfrm flipV="1">
              <a:off x="6849822" y="4445900"/>
              <a:ext cx="1301858" cy="4571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7940"/>
            <a:ext cx="3524250" cy="20896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807940"/>
            <a:ext cx="3524250" cy="20896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807940"/>
            <a:ext cx="3524250" cy="2089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5088"/>
                </a:solidFill>
                <a:latin typeface="Poppins"/>
              </a:rPr>
              <a:t>特殊檢體處理與汙染辨識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7250" y="3141315"/>
            <a:ext cx="3100387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5088"/>
                </a:solidFill>
                <a:latin typeface="Poppins"/>
              </a:rPr>
              <a:t>小兒檢體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17565"/>
            <a:ext cx="29527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A8、PNI、NBC 檢體溶血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不退件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。若 K 達危險臨界值須通報，並註明溶血價數 (e.g. 2+)。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141315"/>
            <a:ext cx="3100387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5088"/>
                </a:solidFill>
                <a:latin typeface="Poppins"/>
              </a:rPr>
              <a:t>EDTA 汙染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617565"/>
            <a:ext cx="29527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表現為 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K 異常升高、Ca 降低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。主因為蓋子蓋反或將紫頭管檢體倒入綠/黃頭管。須通知單位重抽。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141315"/>
            <a:ext cx="3100387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5088"/>
                </a:solidFill>
                <a:latin typeface="Poppins"/>
              </a:rPr>
              <a:t>灰頭管干擾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3617565"/>
            <a:ext cx="29527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灰頭管內含 NaF，會導致血清 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Na 測定值假性增加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。嚴禁混用或誤用。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179415"/>
            <a:ext cx="177849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625" y="3179415"/>
            <a:ext cx="177849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0" y="3179415"/>
            <a:ext cx="177849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24251"/>
            <a:ext cx="11049000" cy="581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5088"/>
                </a:solidFill>
                <a:latin typeface="Poppins"/>
              </a:rPr>
              <a:t>檢體干擾因素排除指南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2552700"/>
            <a:ext cx="10763250" cy="93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乳糜檢體處理：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604170"/>
            <a:ext cx="10763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體液 Heparin 汙染：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含 Heparin 的管路會導致 Pandy test 出現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偽陰性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結果。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92760"/>
            <a:ext cx="10763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滲透壓干擾：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血清/血漿應於 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2 小時內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處理完畢，溶血會嚴重影響滲透壓數值。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933801"/>
            <a:ext cx="118616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52700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04170"/>
            <a:ext cx="133498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92760"/>
            <a:ext cx="133498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2826990"/>
            <a:ext cx="10477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優先進行 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TG 稀釋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後做出數值。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215580"/>
            <a:ext cx="10477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GOT：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採用高速離心處理，必要時可連續離心 2 次；若仍干擾則需稀釋。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826990"/>
            <a:ext cx="133498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215580"/>
            <a:ext cx="133498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75560" y="571500"/>
            <a:ext cx="704088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05088"/>
                </a:solidFill>
                <a:latin typeface="Poppins"/>
              </a:rPr>
              <a:t>異常數值確認與稀釋邏輯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962025"/>
            <a:ext cx="952500" cy="4762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4141440"/>
            <a:ext cx="4667250" cy="428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5088"/>
                </a:solidFill>
                <a:latin typeface="Poppins"/>
              </a:rPr>
              <a:t>GOT 與 Microalbumin 高值稀釋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2594669"/>
            <a:ext cx="56007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05088"/>
                </a:solidFill>
                <a:latin typeface="Poppins"/>
              </a:rPr>
              <a:t>GOT (AST) 稀釋步驟：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50" y="2994719"/>
            <a:ext cx="4667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手工稀釋 10 倍 (50ul 檢體 + 450ul 水)。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3383309"/>
            <a:ext cx="4667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機器自動稀釋 3 倍 (機器自動回乘)。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50" y="4141440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最終計算邏輯：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50" y="4684365"/>
            <a:ext cx="4667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參照 CG008-L04，最終發出：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&gt;7000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994719"/>
            <a:ext cx="133498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383309"/>
            <a:ext cx="133498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771900"/>
            <a:ext cx="133498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684365"/>
            <a:ext cx="133498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8399" y="4293840"/>
            <a:ext cx="1326951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5088"/>
                </a:solidFill>
                <a:latin typeface="Poppins"/>
              </a:rPr>
              <a:t>低值驗證 (ALT &lt; 5) 作業規範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2985938"/>
            <a:ext cx="533400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sz="11250" b="1" i="0" u="none">
                <a:solidFill>
                  <a:srgbClr val="005088"/>
                </a:solidFill>
                <a:latin typeface="Noto Sans TC"/>
              </a:rPr>
              <a:t>1:1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414688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Noto Sans TC"/>
              </a:rPr>
              <a:t>已知濃度 (QC) 稀釋法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362200"/>
            <a:ext cx="56007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05088"/>
                </a:solidFill>
                <a:latin typeface="Poppins"/>
              </a:rPr>
              <a:t>驗證步驟與計算：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781300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當 ALT &lt; 5 時，需排除基質干擾：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3227040"/>
            <a:ext cx="5048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使用已知濃度 QC (例如 31) 與檢體 1:1 混合。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3615630"/>
            <a:ext cx="5048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測定稀釋後數值 (例如 15.9)。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4373760"/>
            <a:ext cx="5048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計算公式：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4916685"/>
            <a:ext cx="5048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結論：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報告發出 &lt; 5。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27040"/>
            <a:ext cx="133498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615630"/>
            <a:ext cx="133498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004220"/>
            <a:ext cx="133498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916685"/>
            <a:ext cx="133498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424" y="4526160"/>
            <a:ext cx="1307901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75560" y="571500"/>
            <a:ext cx="704088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05088"/>
                </a:solidFill>
                <a:latin typeface="Poppins"/>
              </a:rPr>
              <a:t>臨床特殊案例與線性管理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962025"/>
            <a:ext cx="952500" cy="4762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9773"/>
            <a:ext cx="5381625" cy="18058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65077"/>
            <a:ext cx="5381625" cy="21754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5088"/>
                </a:solidFill>
                <a:latin typeface="Poppins"/>
              </a:rPr>
              <a:t>ICU 案例與線性範圍管理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150" y="3197423"/>
            <a:ext cx="5130641" cy="247650"/>
          </a:xfrm>
          <a:prstGeom prst="rect">
            <a:avLst/>
          </a:prstGeom>
          <a:noFill/>
        </p:spPr>
        <p:txBody>
          <a:bodyPr wrap="square" lIns="138707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05088"/>
                </a:solidFill>
                <a:latin typeface="Poppins"/>
              </a:rPr>
              <a:t>ICU 營養失衡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616523"/>
            <a:ext cx="48863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CHOL、LDL、TG 數值可能偏低且低於線性值。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062263"/>
            <a:ext cx="48863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05088"/>
                </a:solidFill>
                <a:latin typeface="Noto Sans TC"/>
              </a:rPr>
              <a:t>處理：註記 "recheck" 後發出。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012727"/>
            <a:ext cx="5130641" cy="247650"/>
          </a:xfrm>
          <a:prstGeom prst="rect">
            <a:avLst/>
          </a:prstGeom>
          <a:noFill/>
        </p:spPr>
        <p:txBody>
          <a:bodyPr wrap="square" lIns="138707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05088"/>
                </a:solidFill>
                <a:latin typeface="Poppins"/>
              </a:rPr>
              <a:t>CRE 線性差異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431827"/>
            <a:ext cx="48863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Serum 和 Urine/Dialysate 的線性不同。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235523"/>
            <a:ext cx="138707" cy="17829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3050827"/>
            <a:ext cx="138707" cy="1782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72275" y="3877567"/>
            <a:ext cx="46005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Dialysate CRE &lt; 4.24 mg/dl 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2275" y="4266158"/>
            <a:ext cx="46005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須改用 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Serum rack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上機測量。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3877567"/>
            <a:ext cx="133498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4266158"/>
            <a:ext cx="133498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143000"/>
            <a:ext cx="10201275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5088"/>
                </a:solidFill>
                <a:latin typeface="Poppins"/>
              </a:rPr>
              <a:t>ISE 與 ABG 異常處理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143000"/>
            <a:ext cx="76200" cy="56197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90725"/>
            <a:ext cx="10401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05088"/>
                </a:solidFill>
                <a:latin typeface="Poppins"/>
              </a:rPr>
              <a:t>ISE &gt; 線性值處理：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899445"/>
            <a:ext cx="10401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05088"/>
                </a:solidFill>
                <a:latin typeface="Poppins"/>
              </a:rPr>
              <a:t>ABG 異常：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18545"/>
            <a:ext cx="9906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若檢體狀態不佳且無法重採，報告發出 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# (無法偵測)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，備註「急救採檢，經臨床單位同意」。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390775"/>
            <a:ext cx="9620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先至備機 Recheck 確認非儀器問題。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0" y="2779365"/>
            <a:ext cx="9620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通知臨床，詢問病人狀態及是否重採。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3167955"/>
            <a:ext cx="9620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若需稀釋，以水 1:1 稀釋，備註「經高倍稀釋」。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90775"/>
            <a:ext cx="133498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79365"/>
            <a:ext cx="133498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67955"/>
            <a:ext cx="133498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15639" y="571500"/>
            <a:ext cx="576072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05088"/>
                </a:solidFill>
                <a:latin typeface="Poppins"/>
              </a:rPr>
              <a:t>品質作業與儀器管理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962025"/>
            <a:ext cx="952500" cy="4762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5088"/>
                </a:solidFill>
                <a:latin typeface="Poppins"/>
              </a:rPr>
              <a:t>保養後檢體追溯標準 (CG010-L08)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76200" cy="64770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2686050"/>
            <a:ext cx="11049000" cy="260970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686050"/>
          <a:ext cx="11048999" cy="2609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4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263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0826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219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步驟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作業標準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備註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194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工單簽核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值班人員務必簽名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確認維修內容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194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品管允收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確認於 +/- 2SD 內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CG010-L09 表單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194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檢體追溯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故障前檢體複測 1 筆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允收標準：</a:t>
                      </a:r>
                      <a:r>
                        <a:rPr sz="1350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2.77% CV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2194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擴大追溯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若未達標，追溯 3 筆檢體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填寫不符合事件單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1500" y="3744217"/>
            <a:ext cx="211440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85901" y="3744217"/>
            <a:ext cx="472633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12235" y="3744217"/>
            <a:ext cx="42082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256633"/>
            <a:ext cx="211440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85901" y="4256633"/>
            <a:ext cx="472633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12235" y="4256633"/>
            <a:ext cx="42082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769048"/>
            <a:ext cx="211440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85901" y="4769048"/>
            <a:ext cx="472633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12235" y="4769048"/>
            <a:ext cx="42082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281463"/>
            <a:ext cx="211440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85901" y="5281463"/>
            <a:ext cx="472633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12235" y="5281463"/>
            <a:ext cx="42082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55519" y="571500"/>
            <a:ext cx="768096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05088"/>
                </a:solidFill>
                <a:latin typeface="Poppins"/>
              </a:rPr>
              <a:t>檢體保存、行政與緊急處理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1019175"/>
            <a:ext cx="952500" cy="4762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998" y="600074"/>
            <a:ext cx="11401425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 err="1">
                <a:solidFill>
                  <a:srgbClr val="005088"/>
                </a:solidFill>
                <a:latin typeface="Poppins"/>
              </a:rPr>
              <a:t>檢體保存與委外規範</a:t>
            </a:r>
            <a:endParaRPr sz="3300" b="1" i="0" u="none" dirty="0">
              <a:solidFill>
                <a:srgbClr val="005088"/>
              </a:solidFill>
              <a:latin typeface="Poppi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250" y="2469951"/>
            <a:ext cx="5048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Noto Sans TC"/>
              </a:rPr>
              <a:t>保存期限：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全數檢體保存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350" b="1" i="0" u="none" dirty="0">
                <a:solidFill>
                  <a:srgbClr val="334155"/>
                </a:solidFill>
                <a:latin typeface="Noto Sans TC"/>
              </a:rPr>
              <a:t>7 天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858541"/>
            <a:ext cx="5048250" cy="93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Noto Sans TC"/>
              </a:rPr>
              <a:t>加驗時效</a:t>
            </a:r>
            <a:r>
              <a:rPr sz="1350" b="1" i="0" u="none" dirty="0">
                <a:solidFill>
                  <a:srgbClr val="334155"/>
                </a:solidFill>
                <a:latin typeface="Noto Sans TC"/>
              </a:rPr>
              <a:t>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910012"/>
            <a:ext cx="5048250" cy="132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委外注意事項：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9951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8541"/>
            <a:ext cx="133498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10012"/>
            <a:ext cx="133498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3132832"/>
            <a:ext cx="4762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綠頭管：送檢起 4 小時內。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21422"/>
            <a:ext cx="4762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黃頭管：送檢起 3 天內。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184302"/>
            <a:ext cx="4762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冷凍尿液：僅留 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7 分滿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72892"/>
            <a:ext cx="4762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CSF：無菌管直接冷凍，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嚴禁分裝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961483"/>
            <a:ext cx="4762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HIV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確認試驗：放置於指定專用區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132832"/>
            <a:ext cx="133498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521422"/>
            <a:ext cx="133498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184302"/>
            <a:ext cx="133498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572892"/>
            <a:ext cx="133498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961483"/>
            <a:ext cx="133498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sz="3300" b="1" dirty="0">
                <a:solidFill>
                  <a:srgbClr val="005088"/>
                </a:solidFill>
                <a:latin typeface="Poppins"/>
                <a:ea typeface="+mn-ea"/>
                <a:cs typeface="+mn-cs"/>
              </a:rPr>
              <a:t>急生化法定傳染通報項目及流程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>
              <a:lnSpc>
                <a:spcPts val="2160"/>
              </a:lnSpc>
            </a:pPr>
            <a:r>
              <a:rPr lang="zh-TW" altLang="en-US" sz="1700" b="1" dirty="0">
                <a:solidFill>
                  <a:srgbClr val="334155"/>
                </a:solidFill>
                <a:latin typeface="Noto Sans TC"/>
              </a:rPr>
              <a:t>退伍鏈球菌尿液抗原陽性</a:t>
            </a:r>
            <a:endParaRPr lang="en-US" altLang="zh-TW" sz="1700" b="1" dirty="0">
              <a:solidFill>
                <a:srgbClr val="334155"/>
              </a:solidFill>
              <a:latin typeface="Noto Sans TC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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口頭通報感控</a:t>
            </a:r>
            <a:endParaRPr lang="en-US" altLang="zh-TW" sz="1700" b="1" dirty="0">
              <a:solidFill>
                <a:srgbClr val="334155"/>
              </a:solidFill>
              <a:latin typeface="Noto Sans TC"/>
              <a:sym typeface="Wingdings" panose="05000000000000000000" pitchFamily="2" charset="2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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登記於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｢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生化組委外感控通知單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｣</a:t>
            </a:r>
            <a:endParaRPr lang="en-US" altLang="zh-TW" sz="1700" b="1" dirty="0">
              <a:solidFill>
                <a:srgbClr val="334155"/>
              </a:solidFill>
              <a:latin typeface="Noto Sans TC"/>
            </a:endParaRPr>
          </a:p>
          <a:p>
            <a:pPr marL="0">
              <a:lnSpc>
                <a:spcPts val="2160"/>
              </a:lnSpc>
            </a:pPr>
            <a:r>
              <a:rPr lang="zh-TW" altLang="en-US" sz="1700" b="1" dirty="0">
                <a:solidFill>
                  <a:srgbClr val="334155"/>
                </a:solidFill>
                <a:latin typeface="Noto Sans TC"/>
              </a:rPr>
              <a:t>登革熱</a:t>
            </a:r>
            <a:endParaRPr lang="en-US" altLang="zh-TW" sz="1700" b="1" dirty="0">
              <a:solidFill>
                <a:srgbClr val="334155"/>
              </a:solidFill>
              <a:latin typeface="Noto Sans TC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zh-TW" altLang="en-US" sz="1700" b="1" dirty="0">
                <a:solidFill>
                  <a:srgbClr val="334155"/>
                </a:solidFill>
                <a:latin typeface="Noto Sans TC"/>
              </a:rPr>
              <a:t>公費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</a:rPr>
              <a:t>: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</a:rPr>
              <a:t>陽性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</a:rPr>
              <a:t>/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</a:rPr>
              <a:t>陰性</a:t>
            </a:r>
            <a:endParaRPr lang="en-US" altLang="zh-TW" sz="1700" b="1" dirty="0">
              <a:solidFill>
                <a:srgbClr val="334155"/>
              </a:solidFill>
              <a:latin typeface="Noto Sans TC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zh-TW" altLang="en-US" sz="1700" b="1" dirty="0">
                <a:solidFill>
                  <a:srgbClr val="334155"/>
                </a:solidFill>
                <a:latin typeface="Noto Sans TC"/>
              </a:rPr>
              <a:t>自費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</a:rPr>
              <a:t>: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</a:rPr>
              <a:t>陽性</a:t>
            </a:r>
            <a:endParaRPr lang="en-US" altLang="zh-TW" sz="1700" b="1" dirty="0">
              <a:solidFill>
                <a:srgbClr val="334155"/>
              </a:solidFill>
              <a:latin typeface="Noto Sans TC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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口頭通報感控</a:t>
            </a:r>
            <a:endParaRPr lang="en-US" altLang="zh-TW" sz="1700" b="1" dirty="0">
              <a:solidFill>
                <a:srgbClr val="334155"/>
              </a:solidFill>
              <a:latin typeface="Noto Sans TC"/>
              <a:sym typeface="Wingdings" panose="05000000000000000000" pitchFamily="2" charset="2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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登記於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｢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生化組委外感控通知單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｣</a:t>
            </a:r>
            <a:endParaRPr lang="en-US" altLang="zh-TW" sz="1700" b="1" dirty="0">
              <a:solidFill>
                <a:srgbClr val="334155"/>
              </a:solidFill>
              <a:latin typeface="Noto Sans TC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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公費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: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填寫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｢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宜蘭縣登革熱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NS1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快篩使用登記表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｣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傳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line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群組</a:t>
            </a:r>
            <a:endParaRPr lang="en-US" altLang="zh-TW" sz="1700" b="1" dirty="0">
              <a:solidFill>
                <a:srgbClr val="334155"/>
              </a:solidFill>
              <a:latin typeface="Noto Sans TC"/>
              <a:sym typeface="Wingdings" panose="05000000000000000000" pitchFamily="2" charset="2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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檢體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: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一紅一綠</a:t>
            </a:r>
            <a:endParaRPr lang="en-US" altLang="zh-TW" sz="1700" b="1" dirty="0">
              <a:solidFill>
                <a:srgbClr val="334155"/>
              </a:solidFill>
              <a:latin typeface="Noto Sans TC"/>
              <a:sym typeface="Wingdings" panose="05000000000000000000" pitchFamily="2" charset="2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   操作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: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綠頭，陽性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: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留紅頭至委外冰箱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｢</a:t>
            </a:r>
            <a:r>
              <a:rPr lang="zh-TW" altLang="en-US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感控檢體放置處</a:t>
            </a:r>
            <a:r>
              <a:rPr lang="en-US" altLang="zh-TW" sz="1700" b="1" dirty="0">
                <a:solidFill>
                  <a:srgbClr val="334155"/>
                </a:solidFill>
                <a:latin typeface="Noto Sans TC"/>
                <a:sym typeface="Wingdings" panose="05000000000000000000" pitchFamily="2" charset="2"/>
              </a:rPr>
              <a:t>｣</a:t>
            </a:r>
            <a:endParaRPr lang="en-US" altLang="zh-TW" sz="1700" b="1" dirty="0">
              <a:solidFill>
                <a:srgbClr val="334155"/>
              </a:solidFill>
              <a:latin typeface="Noto Sans TC"/>
            </a:endParaRPr>
          </a:p>
          <a:p>
            <a:pPr marL="68580" indent="0">
              <a:buNone/>
            </a:pPr>
            <a:endParaRPr lang="en-US" altLang="zh-TW" dirty="0">
              <a:sym typeface="Wingdings" panose="05000000000000000000" pitchFamily="2" charset="2"/>
            </a:endParaRPr>
          </a:p>
          <a:p>
            <a:pPr marL="6858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9454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-101948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27052"/>
            <a:ext cx="11049000" cy="2381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5088"/>
                </a:solidFill>
                <a:latin typeface="Poppins"/>
              </a:rPr>
              <a:t>危機處理：停水、停電與資訊故障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336577"/>
            <a:ext cx="11029950" cy="2362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997422"/>
            <a:ext cx="5600700" cy="247650"/>
          </a:xfrm>
          <a:prstGeom prst="rect">
            <a:avLst/>
          </a:prstGeom>
          <a:noFill/>
        </p:spPr>
        <p:txBody>
          <a:bodyPr wrap="square" lIns="138707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05088"/>
                </a:solidFill>
                <a:latin typeface="Poppins"/>
              </a:rPr>
              <a:t>停水作業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416522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事先備足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RO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水。打開上蓋直接加入倉庫儲水桶。若電阻值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&lt; </a:t>
            </a:r>
            <a:r>
              <a:rPr sz="1350" b="0" i="0" u="none" smtClean="0">
                <a:solidFill>
                  <a:srgbClr val="334155"/>
                </a:solidFill>
                <a:latin typeface="Noto Sans TC"/>
              </a:rPr>
              <a:t>1</a:t>
            </a:r>
            <a:r>
              <a:rPr lang="en-US" sz="1350" b="0" i="0" u="none" smtClean="0">
                <a:solidFill>
                  <a:srgbClr val="334155"/>
                </a:solidFill>
                <a:latin typeface="Noto Sans TC"/>
              </a:rPr>
              <a:t>0</a:t>
            </a:r>
            <a:r>
              <a:rPr sz="1350" b="0" i="0" u="none" smtClean="0">
                <a:solidFill>
                  <a:srgbClr val="334155"/>
                </a:solidFill>
                <a:latin typeface="Noto Sans TC"/>
              </a:rPr>
              <a:t>mΩ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，需切換紅色共用迴路。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1997422"/>
            <a:ext cx="5600700" cy="247650"/>
          </a:xfrm>
          <a:prstGeom prst="rect">
            <a:avLst/>
          </a:prstGeom>
          <a:noFill/>
        </p:spPr>
        <p:txBody>
          <a:bodyPr wrap="square" lIns="138707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05088"/>
                </a:solidFill>
                <a:latin typeface="Poppins"/>
              </a:rPr>
              <a:t>資訊系統維護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416522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使用手開一式兩聯醫令單。貼上兩份流水號條碼。維護結束後由品管師執行電腦補發作業。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35522"/>
            <a:ext cx="138707" cy="17829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035522"/>
            <a:ext cx="138707" cy="17829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xmlns="" id="{05763CE3-432B-4E1C-B96F-AAC33F3B7D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53" y="3345149"/>
            <a:ext cx="5455147" cy="3243909"/>
          </a:xfrm>
          <a:prstGeom prst="rect">
            <a:avLst/>
          </a:prstGeom>
        </p:spPr>
      </p:pic>
      <p:pic>
        <p:nvPicPr>
          <p:cNvPr id="14" name="Picture 2" descr="D:\user\Desktop\玉亭\手寫醫令單.jpg">
            <a:extLst>
              <a:ext uri="{FF2B5EF4-FFF2-40B4-BE49-F238E27FC236}">
                <a16:creationId xmlns:a16="http://schemas.microsoft.com/office/drawing/2014/main" xmlns="" id="{269D5279-971C-4105-9D3A-F1016D944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6499" y="3253093"/>
            <a:ext cx="5403353" cy="333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474</Words>
  <Application>Microsoft Office PowerPoint</Application>
  <PresentationFormat>自訂</PresentationFormat>
  <Paragraphs>98</Paragraphs>
  <Slides>16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7" baseType="lpstr"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急生化法定傳染通報項目及流程</vt:lpstr>
      <vt:lpstr>PowerPoint 簡報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2026-08-23T01:46:28Z</dcterms:modified>
  <cp:category/>
</cp:coreProperties>
</file>