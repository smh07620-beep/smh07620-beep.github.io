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13.png"/><Relationship Id="rId10" Type="http://schemas.openxmlformats.org/officeDocument/2006/relationships/image" Target="../media/image17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8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16.png"/><Relationship Id="rId4" Type="http://schemas.openxmlformats.org/officeDocument/2006/relationships/image" Target="../media/image19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15.png"/><Relationship Id="rId4" Type="http://schemas.openxmlformats.org/officeDocument/2006/relationships/image" Target="../media/image23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32985" y="2777430"/>
            <a:ext cx="5726028" cy="8286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FFFFF"/>
                </a:solidFill>
                <a:latin typeface="Poppins"/>
              </a:rPr>
              <a:t>Sebia 簡易故障排除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9319" y="3748980"/>
            <a:ext cx="5453360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sz="1350" b="0" i="0" u="none">
                <a:solidFill>
                  <a:srgbClr val="94A3B8"/>
                </a:solidFill>
                <a:latin typeface="Noto Sans TC"/>
              </a:rPr>
              <a:t>常見硬體報錯與快速排除指引手冊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99407"/>
            <a:ext cx="5867400" cy="288786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9900" y="2128837"/>
            <a:ext cx="4800600" cy="3429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0100" y="2599432"/>
            <a:ext cx="5710713" cy="247650"/>
          </a:xfrm>
          <a:prstGeom prst="rect">
            <a:avLst/>
          </a:prstGeom>
          <a:noFill/>
        </p:spPr>
        <p:txBody>
          <a:bodyPr wrap="square" lIns="214907" tIns="0" rIns="0" bIns="0" anchor="t">
            <a:spAutoFit/>
          </a:bodyPr>
          <a:lstStyle/>
          <a:p>
            <a:pPr algn="l"/>
            <a:r>
              <a:rPr sz="1404" b="1" i="0" u="none">
                <a:solidFill>
                  <a:srgbClr val="0284C7"/>
                </a:solidFill>
                <a:latin typeface="Poppins"/>
              </a:rPr>
              <a:t>操作步驟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734817"/>
            <a:ext cx="5438775" cy="238125"/>
          </a:xfrm>
          <a:prstGeom prst="rect">
            <a:avLst/>
          </a:prstGeom>
          <a:noFill/>
        </p:spPr>
        <p:txBody>
          <a:bodyPr wrap="square" lIns="158799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64748B"/>
                </a:solidFill>
                <a:latin typeface="Noto Sans TC"/>
              </a:rPr>
              <a:t>適用於氣泡或管路流體異常時的快速校正流程。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100" y="4620517"/>
            <a:ext cx="543877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37532"/>
            <a:ext cx="138707" cy="1782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800" y="2989957"/>
            <a:ext cx="5172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進入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Settings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介面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378547"/>
            <a:ext cx="5172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輸入密碼：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6800" y="3767137"/>
            <a:ext cx="5172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點擊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Start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6800" y="4155727"/>
            <a:ext cx="51720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選擇 </a:t>
            </a:r>
            <a:r>
              <a:rPr sz="1350" b="1" i="0" u="none">
                <a:solidFill>
                  <a:srgbClr val="334155"/>
                </a:solidFill>
                <a:latin typeface="Noto Sans TC"/>
              </a:rPr>
              <a:t>Short priming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 執行管路排氣/清洗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100" y="4791967"/>
            <a:ext cx="111174" cy="1428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2138362"/>
            <a:ext cx="4781550" cy="3409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24050" y="3397597"/>
            <a:ext cx="533846" cy="2286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4375" y="53340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基礎管路重置操作 (Short Prime)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1500" y="533400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009007"/>
            <a:ext cx="133498" cy="2000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397597"/>
            <a:ext cx="133498" cy="2000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3786187"/>
            <a:ext cx="133498" cy="2000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" y="4174777"/>
            <a:ext cx="133498" cy="200025"/>
          </a:xfrm>
          <a:prstGeom prst="rect">
            <a:avLst/>
          </a:prstGeom>
        </p:spPr>
      </p:pic>
      <p:pic>
        <p:nvPicPr>
          <p:cNvPr id="23" name="圖片 22">
            <a:extLst>
              <a:ext uri="{FF2B5EF4-FFF2-40B4-BE49-F238E27FC236}">
                <a16:creationId xmlns:a16="http://schemas.microsoft.com/office/drawing/2014/main" id="{1C1DCBB7-0F23-4CD3-9257-022C1B71E87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9900" y="2128837"/>
            <a:ext cx="4800600" cy="34099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03165"/>
            <a:ext cx="5867400" cy="228019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903190"/>
            <a:ext cx="1281112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608040"/>
            <a:ext cx="5438775" cy="117529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10400" y="2128837"/>
            <a:ext cx="3021106" cy="3215001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" y="3265140"/>
            <a:ext cx="571071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oppins"/>
              </a:rPr>
              <a:t>Cup loader / Distributor initialization error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760440"/>
            <a:ext cx="5133975" cy="274290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Noto Sans TC"/>
              </a:rPr>
              <a:t>排除方式：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2500" y="4082355"/>
            <a:ext cx="513397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將儀器斷電（關機），手動將卡住的 Cup 取出，再重新開機初始化。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3808065"/>
            <a:ext cx="133498" cy="1714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4375" y="53340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故障排除：Cup 卡在轉盤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533400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7E5395C-50A4-4FBB-9B9A-9D69763415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10400" y="2043953"/>
            <a:ext cx="3021106" cy="3299885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BABCD1BF-1545-4169-A3C9-80CC45DBF65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14041" y="2043953"/>
            <a:ext cx="3364006" cy="3443471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BC56808D-A122-45E1-B6C2-D1C7AFC1DF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31410" y="2007664"/>
            <a:ext cx="3346637" cy="344347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84102"/>
            <a:ext cx="5867400" cy="251832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784127"/>
            <a:ext cx="1272629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488977"/>
            <a:ext cx="5438775" cy="141342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00" y="2128837"/>
            <a:ext cx="3364006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" y="3146077"/>
            <a:ext cx="571071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oppins"/>
              </a:rPr>
              <a:t>Error in rack translation to pickup or release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41377"/>
            <a:ext cx="5133975" cy="274290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Noto Sans TC"/>
              </a:rPr>
              <a:t>排除方式：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2138362"/>
            <a:ext cx="3364006" cy="3409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3689002"/>
            <a:ext cx="133498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4010917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方式 1：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按 Stop 取出後，於 Start 選擇 short prime。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61408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334155"/>
                </a:solidFill>
                <a:latin typeface="Noto Sans TC"/>
              </a:rPr>
              <a:t>方式 2：</a:t>
            </a:r>
            <a:r>
              <a:rPr sz="1350" b="0" i="0" u="none">
                <a:solidFill>
                  <a:srgbClr val="334155"/>
                </a:solidFill>
                <a:latin typeface="Noto Sans TC"/>
              </a:rPr>
              <a:t>斷電（關機），手動將 rack 取出。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53340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故障排除：Rack 卡在操作區內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33400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4029967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4380458"/>
            <a:ext cx="133498" cy="20002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5D7823FB-5738-4147-8C2E-E119E64B20C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19900" y="2158851"/>
            <a:ext cx="3364006" cy="3443471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28720581-C8EA-47DD-BBF0-FB3BB374A8F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58000" y="2179079"/>
            <a:ext cx="3789160" cy="35224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4577"/>
            <a:ext cx="5867400" cy="25373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774602"/>
            <a:ext cx="1196280" cy="266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3479452"/>
            <a:ext cx="5438775" cy="143247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9900" y="2128837"/>
            <a:ext cx="3218329" cy="3429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0100" y="3136552"/>
            <a:ext cx="5710713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475569"/>
                </a:solidFill>
                <a:latin typeface="Poppins"/>
              </a:rPr>
              <a:t>Filling error: water container not well connected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631852"/>
            <a:ext cx="5133975" cy="274290"/>
          </a:xfrm>
          <a:prstGeom prst="rect">
            <a:avLst/>
          </a:prstGeom>
          <a:noFill/>
        </p:spPr>
        <p:txBody>
          <a:bodyPr wrap="square" lIns="209698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1" i="0" u="none">
                <a:solidFill>
                  <a:srgbClr val="0F172A"/>
                </a:solidFill>
                <a:latin typeface="Noto Sans TC"/>
              </a:rPr>
              <a:t>排除方式：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29425" y="2138362"/>
            <a:ext cx="3246903" cy="34099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2500" y="3679477"/>
            <a:ext cx="133498" cy="1714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19200" y="3982342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更換 Filter（濾心）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9200" y="4370933"/>
            <a:ext cx="4867275" cy="2742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334155"/>
                </a:solidFill>
                <a:latin typeface="Noto Sans TC"/>
              </a:rPr>
              <a:t>將水源瓶拔起並重新插好確認連線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4375" y="53340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故障排除：Water 吸取不順利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1500" y="533400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4001392"/>
            <a:ext cx="133498" cy="2000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4389983"/>
            <a:ext cx="133498" cy="200025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48DA4480-E3F5-4BBC-97F1-4A8CB018407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57999" y="2102809"/>
            <a:ext cx="3218329" cy="351530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27982"/>
            <a:ext cx="5381625" cy="28307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427982"/>
            <a:ext cx="5381625" cy="28307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4228207"/>
            <a:ext cx="4791075" cy="73521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4228207"/>
            <a:ext cx="4791075" cy="73521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2723257"/>
            <a:ext cx="57150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6775" y="3485257"/>
            <a:ext cx="1809132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Cup 卡在滑軌上方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6775" y="3885307"/>
            <a:ext cx="285080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64748B"/>
                </a:solidFill>
                <a:latin typeface="Noto Sans TC"/>
              </a:rPr>
              <a:t>關鍵字：</a:t>
            </a:r>
            <a:r>
              <a:rPr sz="1125" b="0" i="0" u="none">
                <a:solidFill>
                  <a:srgbClr val="64748B"/>
                </a:solidFill>
                <a:latin typeface="Noto Sans TC"/>
              </a:rPr>
              <a:t> cup loading error / please remove it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4150" y="2723257"/>
            <a:ext cx="571500" cy="5715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534150" y="3485257"/>
            <a:ext cx="2188554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Poppins"/>
              </a:rPr>
              <a:t>手臂與 Rack 轉盤卡住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4150" y="3885307"/>
            <a:ext cx="169113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1" i="0" u="none">
                <a:solidFill>
                  <a:srgbClr val="64748B"/>
                </a:solidFill>
                <a:latin typeface="Noto Sans TC"/>
              </a:rPr>
              <a:t>關鍵字：</a:t>
            </a:r>
            <a:r>
              <a:rPr sz="1125" b="0" i="0" u="none">
                <a:solidFill>
                  <a:srgbClr val="64748B"/>
                </a:solidFill>
                <a:latin typeface="Noto Sans TC"/>
              </a:rPr>
              <a:t> Needle arm error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084" y="2885182"/>
            <a:ext cx="192732" cy="2476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90600" y="4352032"/>
            <a:ext cx="45434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排除方式：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淨空卡在滑軌上方的 cup，使用鐵夾往下壓，使 cup 順利往滑軌處掉落。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3459" y="2885182"/>
            <a:ext cx="192732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57975" y="4352032"/>
            <a:ext cx="4543425" cy="4875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1" i="0" u="none">
                <a:solidFill>
                  <a:srgbClr val="334155"/>
                </a:solidFill>
                <a:latin typeface="Noto Sans TC"/>
              </a:rPr>
              <a:t>排除方式：</a:t>
            </a:r>
            <a:r>
              <a:rPr sz="1200" b="0" i="0" u="none">
                <a:solidFill>
                  <a:srgbClr val="334155"/>
                </a:solidFill>
                <a:latin typeface="Noto Sans TC"/>
              </a:rPr>
              <a:t>將儀器斷電（關機），安全地將 rack 取出並檢查機械手臂干涉情況。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4375" y="53340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故障排除：Cup 卡在滑軌與手臂異常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33400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71500" y="2019300"/>
            <a:ext cx="11049000" cy="364807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71500" y="2019300"/>
          <a:ext cx="11039474" cy="36480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5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24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1153"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66534"/>
                          </a:solidFill>
                          <a:latin typeface="Noto Sans TC"/>
                        </a:rPr>
                        <a:t>異常狀況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50" b="1" i="0" u="none">
                          <a:solidFill>
                            <a:srgbClr val="166534"/>
                          </a:solidFill>
                          <a:latin typeface="Noto Sans TC"/>
                        </a:rPr>
                        <a:t>可能原因 / 處理方式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0F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15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Noto Sans TC"/>
                        </a:rPr>
                        <a:t>Vacuum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Noto Sans TC"/>
                        </a:rPr>
                        <a:t>更換真空管及 pressure PCB 壓力感測板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15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Noto Sans TC"/>
                        </a:rPr>
                        <a:t>壓力異常 / 軟體異常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Noto Sans TC"/>
                        </a:rPr>
                        <a:t>登出軟體並進行軟體更新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15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Noto Sans TC"/>
                        </a:rPr>
                        <a:t>Buffer tank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Noto Sans TC"/>
                        </a:rPr>
                        <a:t>清洗 Anodic tank &amp; Buffer tank (毛細管清洗槽)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15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Noto Sans TC"/>
                        </a:rPr>
                        <a:t>Cathodic tank filling error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Noto Sans TC"/>
                        </a:rPr>
                        <a:t>水無法流通，清潔 Over flow 並更換 Over flow sensor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153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Noto Sans TC"/>
                        </a:rPr>
                        <a:t>報告無法傳送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Noto Sans TC"/>
                        </a:rPr>
                        <a:t>主機板電磁故障，需更換主機板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157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00000"/>
                          </a:solidFill>
                          <a:latin typeface="Noto Sans TC"/>
                        </a:rPr>
                        <a:t>廢水排空不良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00000"/>
                          </a:solidFill>
                          <a:latin typeface="Noto Sans TC"/>
                        </a:rPr>
                        <a:t>負壓不足，需調整廢水瓶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76262" y="2552700"/>
            <a:ext cx="4015085" cy="190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91347" y="2552700"/>
            <a:ext cx="7024389" cy="19050"/>
          </a:xfrm>
          <a:prstGeom prst="rect">
            <a:avLst/>
          </a:prstGeom>
          <a:solidFill>
            <a:srgbClr val="BBF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262" y="3081337"/>
            <a:ext cx="40150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91347" y="3081337"/>
            <a:ext cx="7024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76262" y="3595687"/>
            <a:ext cx="40150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91347" y="3595687"/>
            <a:ext cx="7024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76262" y="4110037"/>
            <a:ext cx="40150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591347" y="4110037"/>
            <a:ext cx="7024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76262" y="4624387"/>
            <a:ext cx="40150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91347" y="4624387"/>
            <a:ext cx="7024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76262" y="5138737"/>
            <a:ext cx="401508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91347" y="5138737"/>
            <a:ext cx="702438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14375" y="533400"/>
            <a:ext cx="11451431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>
                <a:solidFill>
                  <a:srgbClr val="0F172A"/>
                </a:solidFill>
                <a:latin typeface="Poppins"/>
              </a:rPr>
              <a:t>進階異常與工程師叫修項目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1500" y="533400"/>
            <a:ext cx="47625" cy="4857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</Words>
  <Application>Microsoft Office PowerPoint</Application>
  <PresentationFormat>寬螢幕</PresentationFormat>
  <Paragraphs>45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2" baseType="lpstr">
      <vt:lpstr>Noto Sans TC</vt:lpstr>
      <vt:lpstr>Poppins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cp:keywords/>
  <dc:description>generated using python-pptx</dc:description>
  <cp:lastModifiedBy>hmisa</cp:lastModifiedBy>
  <cp:revision>2</cp:revision>
  <dcterms:created xsi:type="dcterms:W3CDTF">2013-01-27T09:14:16Z</dcterms:created>
  <dcterms:modified xsi:type="dcterms:W3CDTF">2026-08-18T09:04:23Z</dcterms:modified>
  <cp:category/>
</cp:coreProperties>
</file>