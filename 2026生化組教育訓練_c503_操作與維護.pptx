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8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5563" y="1795462"/>
            <a:ext cx="6980872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>
                <a:solidFill>
                  <a:srgbClr val="F3F0DF"/>
                </a:solidFill>
                <a:latin typeface="Merriweather"/>
              </a:rPr>
              <a:t>2026 生化組教育訓練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8637" y="2719387"/>
            <a:ext cx="35147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sz="3150" b="0" i="0" u="none">
                <a:solidFill>
                  <a:srgbClr val="11CAA0"/>
                </a:solidFill>
                <a:latin typeface="DM Sans Medium"/>
              </a:rPr>
              <a:t>cobas pro c503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81625" y="3795712"/>
            <a:ext cx="142875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95750" y="4395787"/>
            <a:ext cx="4000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F3F0DF"/>
                </a:solidFill>
                <a:latin typeface="DM Sans"/>
              </a:rPr>
              <a:t>操作維護與數據警報排除專業課程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042368"/>
            <a:ext cx="5210175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SSU 俯視操作：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透過裝載軌道 (Loading Track) 置入樣品託盤。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853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853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辨識流程：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系統自動移動樣品架，由條碼閱讀器讀取 ID 並檢測容器類型。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139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13968"/>
            <a:ext cx="490537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裝載規則：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確保樣品管垂直、標籤面向開口側。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728293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28293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緩衝區管理：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樣品架會自動傳送至樣本緩衝區等待分析。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檢體上機標準模式 (Standard Loading)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DFA7580-B8E0-4DEA-AE31-FEA6850EE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130635"/>
            <a:ext cx="5129493" cy="3747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042368"/>
            <a:ext cx="5210175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急診進樣口：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位於 SSU 後方，可直接將單一架次投入傳送軌道。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853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853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高優先權：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系統將自動插隊處理急診架，優於緩衝區內的常規架。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139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139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裝載細節：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將樣品架窄端朝右放入，條碼朝向閱讀器方向。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426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426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即時啟動：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若在 Operation 模式下，裝載後系統立即開始處理。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急診上機模式 (STAT Loading)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B3439AD-2012-4D99-B317-ADDD1FE5A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34" y="2340470"/>
            <a:ext cx="4919066" cy="33521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7693"/>
            <a:ext cx="528637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13818"/>
            <a:ext cx="5286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補充與更換判定準則：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652218"/>
            <a:ext cx="5286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DM Sans"/>
              </a:rPr>
              <a:t>※ 按下 Reagent Loader 按鈕啟動自動裝卸載程序。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937718"/>
            <a:ext cx="48863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空或遮蔽：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試劑已耗盡或效期已過，必須立即更換。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604468"/>
            <a:ext cx="48863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FFFFFF"/>
                </a:solidFill>
                <a:latin typeface="DM Sans"/>
              </a:rPr>
              <a:t>低液位：</a:t>
            </a:r>
            <a:r>
              <a:rPr sz="1650" b="0" i="0" u="none" dirty="0" err="1">
                <a:solidFill>
                  <a:srgbClr val="FFFFFF"/>
                </a:solidFill>
                <a:latin typeface="DM Sans"/>
              </a:rPr>
              <a:t>低於警告閾值</a:t>
            </a:r>
            <a:r>
              <a:rPr sz="1650" b="0" i="0" u="none" dirty="0">
                <a:solidFill>
                  <a:srgbClr val="FFFFFF"/>
                </a:solidFill>
                <a:latin typeface="DM Sans"/>
              </a:rPr>
              <a:t> (</a:t>
            </a:r>
            <a:r>
              <a:rPr sz="1650" b="0" i="0" u="none" dirty="0" err="1">
                <a:solidFill>
                  <a:srgbClr val="FFFFFF"/>
                </a:solidFill>
                <a:latin typeface="DM Sans"/>
              </a:rPr>
              <a:t>通常為</a:t>
            </a:r>
            <a:r>
              <a:rPr sz="1650" b="0" i="0" u="none" dirty="0">
                <a:solidFill>
                  <a:srgbClr val="FFFFFF"/>
                </a:solidFill>
                <a:latin typeface="DM Sans"/>
              </a:rPr>
              <a:t> 10%)。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956893"/>
            <a:ext cx="48863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日需求：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低於設定之當日平均消耗量。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4" y="2918668"/>
            <a:ext cx="824193" cy="352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604468"/>
            <a:ext cx="609600" cy="352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956893"/>
            <a:ext cx="609600" cy="3524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試藥裝載管理 (Reagent Replacement)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7D5D809-7B80-42B2-9E84-6AC03E38AA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8650" y="2829773"/>
            <a:ext cx="4911825" cy="2076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042368"/>
            <a:ext cx="5210175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預訂流程：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進入 Calibration &gt; Order，檢視 Cause 列中的系統建議。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853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853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推薦標示：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黃色為建議校正；青綠色代表已排入手續。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139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139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執行按鈕：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點選 Save 儲存變更，並根據裝載清單準備校正液。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426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426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黑色樣品架：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所有校正液必須放置於黑色專用架上機。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校正介面與執行 (Calibration Order)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2D7854-6189-4C7B-84AB-2F90B7B2C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518" y="2313830"/>
            <a:ext cx="5029200" cy="3378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042368"/>
            <a:ext cx="5210175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成功判定：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Status 列出現選中符號代表校正成功。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470993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470993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結果追蹤：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點選 Details 或 Calibration Trace 查看歷史吸光度值與 K 因數。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99643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99643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失敗排除：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若出現紅色驚嘆號，須檢查是否發生 Dup.E (重複性錯誤) 或 Sens.E (靈敏度錯誤)。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查看校正詳細資訊 (Calibration Details)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8FAA53D-F6A2-4422-9EF1-86A01114A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33" y="2156667"/>
            <a:ext cx="5147427" cy="3797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042368"/>
            <a:ext cx="5210175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品管預訂：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預訂方式分為 Routine QC (使用中) 或 Standby QC (備用瓶)。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853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853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L-J 圖表評估：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於 QC Chart 檢視結果是否落於 2SD 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139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139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失控處理：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若出現紅色圓圈或 QCErr，需重新準備品管液或更換試劑盒。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426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42618"/>
            <a:ext cx="490537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白色樣品架：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品管液必須放置於白色專用架。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品質管制執行與監控 (Performing QC)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538B7B9-514C-40DE-B43D-9F4366081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34" y="2313830"/>
            <a:ext cx="4998454" cy="34235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7693"/>
            <a:ext cx="5286375" cy="1647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13818"/>
            <a:ext cx="5286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日常清洗架 (Wash Rack) 配置：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5379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537918"/>
            <a:ext cx="490537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執行時機：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每日工作結束或關機前。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852243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852243"/>
            <a:ext cx="490537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目的：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清洗電極流路並活化電極，解除系統屏蔽。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0901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090118"/>
            <a:ext cx="450532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槽位 2：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放入 600 μL ISE Cleaning Solution (SysClean)。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187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718768"/>
            <a:ext cx="4505325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槽位 3：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放入 600 μL Activator。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日常組合保養 (Daily Pipe)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A3882AC-5584-40A4-B735-337DBF3D9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744" y="2799639"/>
            <a:ext cx="4937136" cy="2209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4268"/>
            <a:ext cx="5286375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1566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66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Pipe 定義：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進入 Maintenance Pipes 介面，可將多項保養組合為單一 Pipe。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853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853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核心內容：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通常包含 Air Purge (排氣) 與 System Wash (系統清洗)。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1396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1396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自動化時程：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可設定於每週特定開機時間自動執行整套流程。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42618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42618"/>
            <a:ext cx="4905375" cy="6286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DM Sans"/>
              </a:rPr>
              <a:t>光度計檢查：</a:t>
            </a:r>
            <a:r>
              <a:rPr sz="1650" b="0" i="0" u="none">
                <a:solidFill>
                  <a:srgbClr val="FFFFFF"/>
                </a:solidFill>
                <a:latin typeface="DM Sans"/>
              </a:rPr>
              <a:t>每週執行一次光度計光源與反應杯空白測定。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每週保養 Pipe 設定 (Weekly Pipe)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5F0640D-8D04-45A6-ABA9-FA3384B40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744" y="2799639"/>
            <a:ext cx="4937136" cy="2209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2407"/>
            <a:ext cx="3492549" cy="1864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3072407"/>
            <a:ext cx="3492549" cy="1864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3072407"/>
            <a:ext cx="3492549" cy="1864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320057"/>
            <a:ext cx="3147112" cy="2476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3F0DF"/>
                </a:solidFill>
                <a:latin typeface="DM Sans"/>
              </a:rPr>
              <a:t>模式切換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746003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DM Sans"/>
              </a:rPr>
              <a:t>執行手動保養或 Weekly Pipe 前，務必確認單元已進入 Standby 或 Mask 模式，以確保機械安全。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320057"/>
            <a:ext cx="3147112" cy="2476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3F0DF"/>
                </a:solidFill>
                <a:latin typeface="DM Sans"/>
              </a:rPr>
              <a:t>液體正確度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746003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DM Sans"/>
              </a:rPr>
              <a:t>SysClean 與 Activator 絕對不可混淆；槽位配置錯誤會導致電極受損或校正失敗。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3320057"/>
            <a:ext cx="3147112" cy="2476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3F0DF"/>
                </a:solidFill>
                <a:latin typeface="DM Sans"/>
              </a:rPr>
              <a:t>執行頻率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746003"/>
            <a:ext cx="29972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DM Sans"/>
              </a:rPr>
              <a:t>保養 Pipe 若逾期，系統將發出黃色警告並可能自動遮蔽部分檢測項目。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348632"/>
            <a:ext cx="180975" cy="1782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3348632"/>
            <a:ext cx="219075" cy="17829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3348632"/>
            <a:ext cx="180975" cy="178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903535"/>
            <a:ext cx="113514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3F0DF"/>
                </a:solidFill>
                <a:latin typeface="Merriweather"/>
              </a:rPr>
              <a:t>保養執行關鍵注意事項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03535"/>
            <a:ext cx="95250" cy="5334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52712"/>
            <a:ext cx="11049000" cy="2400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652712"/>
          <a:ext cx="11048998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4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警報代碼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警報名稱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可能原因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&gt;Abs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ABS over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檢體濃度過高、脂血或嚴重汙染、光學路徑有障礙物。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Cal.E / Cal.I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Calibration abnormal / invalid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前次校正失敗、載入新試劑匣但尚未執行對應校正。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Cell.T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Cell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反應測量池溫度監控異常或實驗室環境溫度異常。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&gt;Curr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Current range over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測量池因氣泡、汙染或燈泡衰退導致電流異常。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143250"/>
            <a:ext cx="1761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33029" y="3143250"/>
            <a:ext cx="3412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45807" y="3143250"/>
            <a:ext cx="5874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19500"/>
            <a:ext cx="1761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33029" y="3619500"/>
            <a:ext cx="3412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45807" y="3619500"/>
            <a:ext cx="5874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095750"/>
            <a:ext cx="1761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3029" y="4095750"/>
            <a:ext cx="3412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45807" y="4095750"/>
            <a:ext cx="5874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572000"/>
            <a:ext cx="1761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33029" y="4572000"/>
            <a:ext cx="3412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45807" y="4572000"/>
            <a:ext cx="5874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5088"/>
                </a:solidFill>
                <a:latin typeface="Poppins"/>
              </a:rPr>
              <a:t>常見數據警報與原因解析 (一)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52712"/>
            <a:ext cx="11049000" cy="2400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652712"/>
          <a:ext cx="11048998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警報代碼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警報名稱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Noto Sans TC SemiBold"/>
                        </a:rPr>
                        <a:t>可能原因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&gt;Cuvet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ABS Cell blank abnormal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反應杯嚴重汙染或有髒汙，影響空白光學讀值。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Det.S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Carryover detergent 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任一特殊清洗劑 (Detergent) 存量不足。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ElecEx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Expired ISE electrode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ISE 電極效期已到或測試次數耗盡。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TC"/>
                        </a:rPr>
                        <a:t>CarOvr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Potential carryover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低濃度檢體受到前一檢測項目微量交叉污染潛在性。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143250"/>
            <a:ext cx="1667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38523" y="314325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47419" y="3143250"/>
            <a:ext cx="607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19500"/>
            <a:ext cx="1667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38523" y="361950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47419" y="3619500"/>
            <a:ext cx="607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095750"/>
            <a:ext cx="1667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8523" y="409575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47419" y="4095750"/>
            <a:ext cx="607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572000"/>
            <a:ext cx="1667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38523" y="457200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47419" y="4572000"/>
            <a:ext cx="607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5088"/>
                </a:solidFill>
                <a:latin typeface="Poppins"/>
              </a:rPr>
              <a:t>常見數據警報與原因解析 (二)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6582"/>
            <a:ext cx="5334000" cy="23925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56582"/>
            <a:ext cx="5334000" cy="2392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123307"/>
            <a:ext cx="498062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燈泡與反應杯定期更換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123307"/>
            <a:ext cx="498062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05088"/>
                </a:solidFill>
                <a:latin typeface="Poppins"/>
              </a:rPr>
              <a:t>ISE 電極更換與解鎖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61382"/>
            <a:ext cx="118616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3370957"/>
            <a:ext cx="4457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燈泡更換：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每三個月定期更換，透過軟體排程排空水浴槽後小心拆換。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062412"/>
            <a:ext cx="4457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反應杯更換：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每個月定期更換，鎖上固定螺絲時須「放一個鎖一個」避免歪斜破裂。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61382"/>
            <a:ext cx="118616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67525" y="3370957"/>
            <a:ext cx="4457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掃描電極二維條碼登錄批號與效期。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3788122"/>
            <a:ext cx="4457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更換電極後務必執行 Daily Wash Rack 與 ISE Check。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4205287"/>
            <a:ext cx="4457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確認品管允收後系統自動解除 ISE 單元屏蔽。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5088"/>
                </a:solidFill>
                <a:latin typeface="Poppins"/>
              </a:rPr>
              <a:t>簡易維修與故障排除對策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390007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081462"/>
            <a:ext cx="133498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390007"/>
            <a:ext cx="133498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807172"/>
            <a:ext cx="133498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224337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477</Words>
  <Application>Microsoft Office PowerPoint</Application>
  <PresentationFormat>寬螢幕</PresentationFormat>
  <Paragraphs>118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DM Sans</vt:lpstr>
      <vt:lpstr>DM Sans Medium</vt:lpstr>
      <vt:lpstr>Merriweather</vt:lpstr>
      <vt:lpstr>Noto Sans TC</vt:lpstr>
      <vt:lpstr>Noto Sans TC SemiBold</vt:lpstr>
      <vt:lpstr>Poppins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hmisa</cp:lastModifiedBy>
  <cp:revision>4</cp:revision>
  <dcterms:created xsi:type="dcterms:W3CDTF">2013-01-27T09:14:16Z</dcterms:created>
  <dcterms:modified xsi:type="dcterms:W3CDTF">2026-08-18T07:38:20Z</dcterms:modified>
  <cp:category/>
</cp:coreProperties>
</file>